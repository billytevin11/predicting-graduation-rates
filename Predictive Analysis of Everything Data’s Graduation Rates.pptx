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31"/>
  </p:notesMasterIdLst>
  <p:handoutMasterIdLst>
    <p:handoutMasterId r:id="rId32"/>
  </p:handoutMasterIdLst>
  <p:sldIdLst>
    <p:sldId id="312" r:id="rId5"/>
    <p:sldId id="325" r:id="rId6"/>
    <p:sldId id="326" r:id="rId7"/>
    <p:sldId id="327" r:id="rId8"/>
    <p:sldId id="346" r:id="rId9"/>
    <p:sldId id="342" r:id="rId10"/>
    <p:sldId id="304" r:id="rId11"/>
    <p:sldId id="343" r:id="rId12"/>
    <p:sldId id="344" r:id="rId13"/>
    <p:sldId id="345" r:id="rId14"/>
    <p:sldId id="323" r:id="rId15"/>
    <p:sldId id="337" r:id="rId16"/>
    <p:sldId id="338" r:id="rId17"/>
    <p:sldId id="341" r:id="rId18"/>
    <p:sldId id="339" r:id="rId19"/>
    <p:sldId id="340" r:id="rId20"/>
    <p:sldId id="336" r:id="rId21"/>
    <p:sldId id="328" r:id="rId22"/>
    <p:sldId id="307" r:id="rId23"/>
    <p:sldId id="332" r:id="rId24"/>
    <p:sldId id="334" r:id="rId25"/>
    <p:sldId id="335" r:id="rId26"/>
    <p:sldId id="329" r:id="rId27"/>
    <p:sldId id="330" r:id="rId28"/>
    <p:sldId id="331" r:id="rId29"/>
    <p:sldId id="297" r:id="rId30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5388" autoAdjust="0"/>
  </p:normalViewPr>
  <p:slideViewPr>
    <p:cSldViewPr snapToGrid="0" snapToObjects="1">
      <p:cViewPr>
        <p:scale>
          <a:sx n="66" d="100"/>
          <a:sy n="66" d="100"/>
        </p:scale>
        <p:origin x="900" y="5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917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162232"/>
            <a:ext cx="6392421" cy="6533535"/>
          </a:xfrm>
        </p:spPr>
        <p:txBody>
          <a:bodyPr anchor="ctr"/>
          <a:lstStyle/>
          <a:p>
            <a:r>
              <a:rPr lang="en-US" sz="3200" dirty="0">
                <a:latin typeface="Georgia" panose="02040502050405020303" pitchFamily="18" charset="0"/>
              </a:rPr>
              <a:t>Predictive Analysis of Everything Data’s GRADUATION RATEs</a:t>
            </a:r>
            <a:br>
              <a:rPr lang="en-US" dirty="0">
                <a:latin typeface="Georgia" panose="02040502050405020303" pitchFamily="18" charset="0"/>
              </a:rPr>
            </a:br>
            <a:br>
              <a:rPr lang="en-US" dirty="0">
                <a:latin typeface="Georgia" panose="02040502050405020303" pitchFamily="18" charset="0"/>
              </a:rPr>
            </a:br>
            <a:r>
              <a:rPr lang="en-US" sz="1800" dirty="0">
                <a:latin typeface="Georgia" panose="02040502050405020303" pitchFamily="18" charset="0"/>
              </a:rPr>
              <a:t>Tevin b. ochieng</a:t>
            </a:r>
            <a:br>
              <a:rPr lang="en-US" sz="1800" dirty="0">
                <a:latin typeface="Georgia" panose="02040502050405020303" pitchFamily="18" charset="0"/>
              </a:rPr>
            </a:br>
            <a:br>
              <a:rPr lang="en-US" sz="1800" dirty="0">
                <a:latin typeface="Georgia" panose="02040502050405020303" pitchFamily="18" charset="0"/>
              </a:rPr>
            </a:br>
            <a:r>
              <a:rPr lang="en-US" sz="1800" dirty="0">
                <a:latin typeface="Georgia" panose="02040502050405020303" pitchFamily="18" charset="0"/>
              </a:rPr>
              <a:t>DATA SCIENCE</a:t>
            </a:r>
            <a:br>
              <a:rPr lang="en-US" sz="1800" dirty="0">
                <a:latin typeface="Georgia" panose="02040502050405020303" pitchFamily="18" charset="0"/>
              </a:rPr>
            </a:br>
            <a:r>
              <a:rPr lang="en-US" sz="1800" dirty="0">
                <a:latin typeface="Georgia" panose="02040502050405020303" pitchFamily="18" charset="0"/>
              </a:rPr>
              <a:t>September 17</a:t>
            </a:r>
            <a:r>
              <a:rPr lang="en-US" sz="1800" baseline="30000" dirty="0">
                <a:latin typeface="Georgia" panose="02040502050405020303" pitchFamily="18" charset="0"/>
              </a:rPr>
              <a:t>th</a:t>
            </a:r>
            <a:r>
              <a:rPr lang="en-US" sz="1800" dirty="0">
                <a:latin typeface="Georgia" panose="02040502050405020303" pitchFamily="18" charset="0"/>
              </a:rPr>
              <a:t>, 2025</a:t>
            </a:r>
            <a:br>
              <a:rPr lang="en-US" sz="1800" dirty="0">
                <a:latin typeface="Georgia" panose="02040502050405020303" pitchFamily="18" charset="0"/>
              </a:rPr>
            </a:br>
            <a:r>
              <a:rPr lang="en-US" sz="1800" dirty="0">
                <a:latin typeface="Georgia" panose="02040502050405020303" pitchFamily="18" charset="0"/>
              </a:rPr>
              <a:t>06:25pm eat (10:25AM CT)</a:t>
            </a:r>
            <a:br>
              <a:rPr lang="en-US" sz="1800" dirty="0">
                <a:latin typeface="Georgia" panose="02040502050405020303" pitchFamily="18" charset="0"/>
              </a:rPr>
            </a:br>
            <a:br>
              <a:rPr lang="en-US" sz="1800" dirty="0">
                <a:latin typeface="Georgia" panose="02040502050405020303" pitchFamily="18" charset="0"/>
              </a:rPr>
            </a:br>
            <a:r>
              <a:rPr lang="en-US" sz="1800" dirty="0">
                <a:latin typeface="Georgia" panose="02040502050405020303" pitchFamily="18" charset="0"/>
              </a:rPr>
              <a:t>EVERYTHING DATA AFRICA</a:t>
            </a:r>
            <a:br>
              <a:rPr lang="en-US" sz="1800" dirty="0">
                <a:latin typeface="Georgia" panose="02040502050405020303" pitchFamily="18" charset="0"/>
              </a:rPr>
            </a:br>
            <a:br>
              <a:rPr lang="en-US" sz="1800" dirty="0">
                <a:latin typeface="Georgia" panose="02040502050405020303" pitchFamily="18" charset="0"/>
              </a:rPr>
            </a:br>
            <a:br>
              <a:rPr lang="en-US" sz="1800" dirty="0">
                <a:latin typeface="Georgia" panose="02040502050405020303" pitchFamily="18" charset="0"/>
              </a:rPr>
            </a:br>
            <a:br>
              <a:rPr lang="en-US" sz="1800" dirty="0">
                <a:latin typeface="Georgia" panose="02040502050405020303" pitchFamily="18" charset="0"/>
              </a:rPr>
            </a:br>
            <a:br>
              <a:rPr lang="en-US" sz="1800" dirty="0">
                <a:latin typeface="Georgia" panose="02040502050405020303" pitchFamily="18" charset="0"/>
              </a:rPr>
            </a:br>
            <a:endParaRPr lang="en-US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080D8-290F-5DE6-9314-2F0D5CEEE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Problem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712F65-3BE1-F6E4-DB56-B92425D3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49A2C-32EE-1C8F-3664-6974D8DDA044}"/>
              </a:ext>
            </a:extLst>
          </p:cNvPr>
          <p:cNvSpPr txBox="1"/>
          <p:nvPr/>
        </p:nvSpPr>
        <p:spPr>
          <a:xfrm>
            <a:off x="870156" y="2093577"/>
            <a:ext cx="497020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Core Challenge:</a:t>
            </a:r>
            <a:r>
              <a:rPr lang="en-US" sz="2000" dirty="0"/>
              <a:t> </a:t>
            </a:r>
          </a:p>
          <a:p>
            <a:pPr algn="ctr"/>
            <a:r>
              <a:rPr lang="en-US" sz="2000" dirty="0"/>
              <a:t>How can we increase the 27% Graduation Rate at Everything Data’s Mentorship Program?</a:t>
            </a:r>
          </a:p>
          <a:p>
            <a:endParaRPr lang="en-US" sz="2000" b="1" dirty="0"/>
          </a:p>
          <a:p>
            <a:pPr algn="ctr"/>
            <a:r>
              <a:rPr lang="en-US" sz="2000" b="1" dirty="0"/>
              <a:t>Specific Problems Identified:</a:t>
            </a:r>
            <a:endParaRPr lang="en-US" sz="20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No systematic way to predict at-risk participants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Limited understanding of success factors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High dropout rate despite quality mentorship</a:t>
            </a:r>
          </a:p>
          <a:p>
            <a:pPr algn="ctr"/>
            <a:endParaRPr lang="en-US" sz="2000" dirty="0"/>
          </a:p>
        </p:txBody>
      </p:sp>
      <p:pic>
        <p:nvPicPr>
          <p:cNvPr id="6" name="Picture 5" descr="A diagram of a graduation rate&#10;&#10;AI-generated content may be incorrect.">
            <a:extLst>
              <a:ext uri="{FF2B5EF4-FFF2-40B4-BE49-F238E27FC236}">
                <a16:creationId xmlns:a16="http://schemas.microsoft.com/office/drawing/2014/main" id="{BB423563-8CA7-C197-A44C-7F574294A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689" y="1902542"/>
            <a:ext cx="5997679" cy="449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17287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8E34F-8842-C365-039C-1705C0450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RESEARCH QUESTIONS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4AD7EB-72CC-979F-5174-8BDAA31DD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9C9151-D106-B039-E668-D17EE4770851}"/>
              </a:ext>
            </a:extLst>
          </p:cNvPr>
          <p:cNvSpPr txBox="1"/>
          <p:nvPr/>
        </p:nvSpPr>
        <p:spPr>
          <a:xfrm>
            <a:off x="600702" y="2093577"/>
            <a:ext cx="10987548" cy="3637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r>
              <a:rPr lang="en-US" altLang="en-US" sz="2400" dirty="0"/>
              <a:t>Which factors most strongly predict graduation? </a:t>
            </a:r>
          </a:p>
          <a:p>
            <a:pPr marL="514350" lvl="0" indent="-514350" algn="ctr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r>
              <a:rPr lang="en-US" altLang="en-US" sz="2400" dirty="0"/>
              <a:t>Can we build reliable models to identify at-risk participants? </a:t>
            </a:r>
          </a:p>
          <a:p>
            <a:pPr marL="514350" lvl="0" indent="-514350" algn="ctr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r>
              <a:rPr lang="en-US" altLang="en-US" sz="2400" dirty="0"/>
              <a:t>What actionable changes would yield maximum impact? (Higher G.R) </a:t>
            </a:r>
          </a:p>
          <a:p>
            <a:pPr marL="514350" indent="-514350" algn="ctr">
              <a:lnSpc>
                <a:spcPct val="250000"/>
              </a:lnSpc>
              <a:buFont typeface="+mj-lt"/>
              <a:buAutoNum type="romanU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8533524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4C65E-CF32-C2AD-5E08-A193D64C1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235975"/>
            <a:ext cx="10671048" cy="1064444"/>
          </a:xfrm>
        </p:spPr>
        <p:txBody>
          <a:bodyPr/>
          <a:lstStyle/>
          <a:p>
            <a:r>
              <a:rPr lang="en-US" dirty="0"/>
              <a:t>Analysis workflow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E205CF-E0B4-95D8-9EE0-8B67892BE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D8493A-00CB-C105-1542-472974EB8D05}"/>
              </a:ext>
            </a:extLst>
          </p:cNvPr>
          <p:cNvSpPr txBox="1"/>
          <p:nvPr/>
        </p:nvSpPr>
        <p:spPr>
          <a:xfrm>
            <a:off x="899651" y="1881701"/>
            <a:ext cx="5565058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Phase 1: Data Loading &amp; Preprocessing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from Nov-Dec 2024 Successful Applicants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from DA and DS Merged into a single CSV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15 variables recorded, zero critical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Demographic, Experience, Commitment, and Performance metrics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D7D79A-AD93-984C-86E1-19C01C5AA467}"/>
              </a:ext>
            </a:extLst>
          </p:cNvPr>
          <p:cNvSpPr txBox="1"/>
          <p:nvPr/>
        </p:nvSpPr>
        <p:spPr>
          <a:xfrm>
            <a:off x="6464709" y="1882799"/>
            <a:ext cx="5565058" cy="175432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Phase 3: Predictive Modeling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Train/test split (80/20) with stratified sampling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Algorithm comparison: Logistic Regression vs Random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 engineering and scaling optimization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E674BA-B688-E7CA-26AF-C85EB472AEAF}"/>
              </a:ext>
            </a:extLst>
          </p:cNvPr>
          <p:cNvSpPr txBox="1"/>
          <p:nvPr/>
        </p:nvSpPr>
        <p:spPr>
          <a:xfrm>
            <a:off x="6464709" y="4355459"/>
            <a:ext cx="5565058" cy="147732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Phase 4: Model Evaluation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Metric assessment (accuracy, precision, recall, F1)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Confusion matrix analysis for prediction 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 importance ranking for quality insights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A1698F-8DFC-F4FC-2614-9CAB555B2A3C}"/>
              </a:ext>
            </a:extLst>
          </p:cNvPr>
          <p:cNvSpPr txBox="1"/>
          <p:nvPr/>
        </p:nvSpPr>
        <p:spPr>
          <a:xfrm>
            <a:off x="898127" y="4217309"/>
            <a:ext cx="5565058" cy="1754326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Phase 2: Exploratory Data Analysis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/>
              <a:t>Data Encoding and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Demographic Segmentation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Success rate comparison across participant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Correlation analysis revealing key relationships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99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549B6-7819-433A-4DE3-8A5BDDF0E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3" y="330310"/>
            <a:ext cx="10671048" cy="777282"/>
          </a:xfrm>
        </p:spPr>
        <p:txBody>
          <a:bodyPr/>
          <a:lstStyle/>
          <a:p>
            <a:r>
              <a:rPr lang="en-US" sz="3200" dirty="0"/>
              <a:t>DATA ENCODING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7B13C5-02EB-44B9-DA95-30EE6898E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89CBFF-395D-5479-0332-C345A1E86948}"/>
              </a:ext>
            </a:extLst>
          </p:cNvPr>
          <p:cNvSpPr txBox="1"/>
          <p:nvPr/>
        </p:nvSpPr>
        <p:spPr>
          <a:xfrm>
            <a:off x="586181" y="1083056"/>
            <a:ext cx="1085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Transforming Categories into Numbers for Machine Learning Applications. In this case, the application being predicting the graduation rate at Everything Data Africa.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600A4E-8C83-14E0-0675-070D8D999696}"/>
              </a:ext>
            </a:extLst>
          </p:cNvPr>
          <p:cNvSpPr txBox="1"/>
          <p:nvPr/>
        </p:nvSpPr>
        <p:spPr>
          <a:xfrm>
            <a:off x="579160" y="1885231"/>
            <a:ext cx="5520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Ordinal Encoding</a:t>
            </a:r>
            <a:r>
              <a:rPr lang="en-US" dirty="0"/>
              <a:t>: Preserving Natural Order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BC7F953-BD78-C0CA-39BB-8DF0D2483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684151"/>
              </p:ext>
            </p:extLst>
          </p:nvPr>
        </p:nvGraphicFramePr>
        <p:xfrm>
          <a:off x="575185" y="2220687"/>
          <a:ext cx="5520816" cy="456044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380204">
                  <a:extLst>
                    <a:ext uri="{9D8B030D-6E8A-4147-A177-3AD203B41FA5}">
                      <a16:colId xmlns:a16="http://schemas.microsoft.com/office/drawing/2014/main" val="550379451"/>
                    </a:ext>
                  </a:extLst>
                </a:gridCol>
                <a:gridCol w="1380204">
                  <a:extLst>
                    <a:ext uri="{9D8B030D-6E8A-4147-A177-3AD203B41FA5}">
                      <a16:colId xmlns:a16="http://schemas.microsoft.com/office/drawing/2014/main" val="1671737259"/>
                    </a:ext>
                  </a:extLst>
                </a:gridCol>
                <a:gridCol w="1380204">
                  <a:extLst>
                    <a:ext uri="{9D8B030D-6E8A-4147-A177-3AD203B41FA5}">
                      <a16:colId xmlns:a16="http://schemas.microsoft.com/office/drawing/2014/main" val="3114027927"/>
                    </a:ext>
                  </a:extLst>
                </a:gridCol>
                <a:gridCol w="1380204">
                  <a:extLst>
                    <a:ext uri="{9D8B030D-6E8A-4147-A177-3AD203B41FA5}">
                      <a16:colId xmlns:a16="http://schemas.microsoft.com/office/drawing/2014/main" val="2084800036"/>
                    </a:ext>
                  </a:extLst>
                </a:gridCol>
              </a:tblGrid>
              <a:tr h="856141">
                <a:tc>
                  <a:txBody>
                    <a:bodyPr/>
                    <a:lstStyle/>
                    <a:p>
                      <a:r>
                        <a:rPr lang="en-US" sz="1600" b="0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Original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Encoded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Rationale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272025"/>
                  </a:ext>
                </a:extLst>
              </a:tr>
              <a:tr h="949386">
                <a:tc>
                  <a:txBody>
                    <a:bodyPr/>
                    <a:lstStyle/>
                    <a:p>
                      <a:r>
                        <a:rPr lang="en-US" sz="1600" b="0" dirty="0"/>
                        <a:t>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Less than 6 months → 4-6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0 →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Natural Progression of Expertise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556029"/>
                  </a:ext>
                </a:extLst>
              </a:tr>
              <a:tr h="949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/>
                        <a:t>Hours/Week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/>
                        <a:t>&lt;6 hours → &gt;14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/>
                        <a:t>1 →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/>
                        <a:t>Increasing commitment levels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8970256"/>
                  </a:ext>
                </a:extLst>
              </a:tr>
              <a:tr h="949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/>
                        <a:t>Skill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/>
                        <a:t>Beginner → Advanced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/>
                        <a:t>1 →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/>
                        <a:t>Learning proficiency hierarchy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8434913"/>
                  </a:ext>
                </a:extLst>
              </a:tr>
              <a:tr h="856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/>
                        <a:t>Age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/>
                        <a:t>18-24 → 45-54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/>
                        <a:t>1 →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/>
                        <a:t>Life stage progression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251124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3D33530-D4E0-F16E-C386-AD26ABF374FA}"/>
              </a:ext>
            </a:extLst>
          </p:cNvPr>
          <p:cNvSpPr txBox="1"/>
          <p:nvPr/>
        </p:nvSpPr>
        <p:spPr>
          <a:xfrm>
            <a:off x="6252373" y="2060221"/>
            <a:ext cx="5520813" cy="195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Binary Encoding</a:t>
            </a:r>
            <a:r>
              <a:rPr lang="en-US" dirty="0"/>
              <a:t>: Simple Yes/No Conversions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Graduated: Yes = 1, No = 0 (Target variable)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Test Completed: Yes = 1, No = 0 (Participation indicator)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BF90A4-1B48-707E-86CB-DB1BA215DB57}"/>
              </a:ext>
            </a:extLst>
          </p:cNvPr>
          <p:cNvSpPr txBox="1"/>
          <p:nvPr/>
        </p:nvSpPr>
        <p:spPr>
          <a:xfrm>
            <a:off x="6252372" y="4170767"/>
            <a:ext cx="5520813" cy="2230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u="sng" dirty="0"/>
              <a:t>Label Encoding</a:t>
            </a:r>
            <a:r>
              <a:rPr lang="en-US" dirty="0"/>
              <a:t>: Nominal Categories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Track: Data Science/Data Analysis → 0/1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Gender: Male/Female → 0/1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Country: Kenya/South Africa → 0/1</a:t>
            </a:r>
          </a:p>
        </p:txBody>
      </p:sp>
    </p:spTree>
    <p:extLst>
      <p:ext uri="{BB962C8B-B14F-4D97-AF65-F5344CB8AC3E}">
        <p14:creationId xmlns:p14="http://schemas.microsoft.com/office/powerpoint/2010/main" val="3595954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243DD-C44B-4A82-375E-550CE8548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1776" y="317661"/>
            <a:ext cx="7359445" cy="935049"/>
          </a:xfrm>
        </p:spPr>
        <p:txBody>
          <a:bodyPr/>
          <a:lstStyle/>
          <a:p>
            <a:r>
              <a:rPr lang="en-US" sz="2800" dirty="0"/>
              <a:t>MODEL SELECTION JUSTIFICATION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492126-C1EB-D19B-7CA3-9A08BBBC9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1E78D-B21F-081C-AAB6-8C9C5E7E9A58}"/>
              </a:ext>
            </a:extLst>
          </p:cNvPr>
          <p:cNvSpPr txBox="1"/>
          <p:nvPr/>
        </p:nvSpPr>
        <p:spPr>
          <a:xfrm>
            <a:off x="3293225" y="1267459"/>
            <a:ext cx="5594555" cy="18466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🎯 PROBLEM ALIGNMENT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Binary Classification Task:</a:t>
            </a:r>
            <a:r>
              <a:rPr lang="en-US" sz="1600" dirty="0"/>
              <a:t> Predict graduation (Yes/No) outcome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Small Dataset (115 participants):</a:t>
            </a:r>
            <a:r>
              <a:rPr lang="en-US" sz="1600" dirty="0"/>
              <a:t> Both algorithms perform well with limited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Mixed Feature Types:</a:t>
            </a:r>
            <a:r>
              <a:rPr lang="en-US" sz="1600" dirty="0"/>
              <a:t> Handle categorical + numerical variables effectively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549BA5-2690-E374-E6BA-3314C3CF5A78}"/>
              </a:ext>
            </a:extLst>
          </p:cNvPr>
          <p:cNvSpPr txBox="1"/>
          <p:nvPr/>
        </p:nvSpPr>
        <p:spPr>
          <a:xfrm>
            <a:off x="495948" y="3429000"/>
            <a:ext cx="5594555" cy="25545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/>
              <a:t>📊 LOGISTIC REGRESSION: The Interpreter</a:t>
            </a:r>
          </a:p>
          <a:p>
            <a:r>
              <a:rPr lang="en-US" sz="1600" b="1" dirty="0"/>
              <a:t>Why?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Transparent Coefficients:</a:t>
            </a:r>
            <a:r>
              <a:rPr lang="en-US" sz="1600" dirty="0"/>
              <a:t> Clear positive/negative impact of each factor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Statistical Rigor:</a:t>
            </a:r>
            <a:r>
              <a:rPr lang="en-US" sz="1600" dirty="0"/>
              <a:t> P-values and significance testing for evidence-based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Stakeholder Communication:</a:t>
            </a:r>
            <a:r>
              <a:rPr lang="en-US" sz="1600" dirty="0"/>
              <a:t> Easy to explain to program managers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Probability Outputs:</a:t>
            </a:r>
            <a:r>
              <a:rPr lang="en-US" sz="1600" dirty="0"/>
              <a:t> Risk assessment scores for intervention planning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7162A1-8B31-4662-FEF8-0E2B8A9B7654}"/>
              </a:ext>
            </a:extLst>
          </p:cNvPr>
          <p:cNvSpPr txBox="1"/>
          <p:nvPr/>
        </p:nvSpPr>
        <p:spPr>
          <a:xfrm>
            <a:off x="6219487" y="3429000"/>
            <a:ext cx="5594555" cy="255454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/>
              <a:t>🌲 RANDOM FOREST: The Pattern Finder</a:t>
            </a:r>
          </a:p>
          <a:p>
            <a:r>
              <a:rPr lang="en-US" sz="1600" b="1" dirty="0"/>
              <a:t>Why?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Complex Relationships:</a:t>
            </a:r>
            <a:r>
              <a:rPr lang="en-US" sz="1600" dirty="0"/>
              <a:t> Captures non-linear interactions (score × hours combinations)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Robust Performance:</a:t>
            </a:r>
            <a:r>
              <a:rPr lang="en-US" sz="1600" dirty="0"/>
              <a:t> Handles outliers and mixed data types naturally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Feature Importance:</a:t>
            </a:r>
            <a:r>
              <a:rPr lang="en-US" sz="1600" dirty="0"/>
              <a:t> Ranks predictors without manual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Proven Track Record:</a:t>
            </a:r>
            <a:r>
              <a:rPr lang="en-US" sz="1600" dirty="0"/>
              <a:t> Industry standard for educational outcome prediction</a:t>
            </a:r>
          </a:p>
        </p:txBody>
      </p:sp>
    </p:spTree>
    <p:extLst>
      <p:ext uri="{BB962C8B-B14F-4D97-AF65-F5344CB8AC3E}">
        <p14:creationId xmlns:p14="http://schemas.microsoft.com/office/powerpoint/2010/main" val="85744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690" y="275611"/>
            <a:ext cx="5796116" cy="565049"/>
          </a:xfrm>
        </p:spPr>
        <p:txBody>
          <a:bodyPr/>
          <a:lstStyle/>
          <a:p>
            <a:r>
              <a:rPr lang="en-US" sz="2800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44" y="1579552"/>
            <a:ext cx="6098459" cy="369889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115 participants, 15 variables, Nov-Dec 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Kenya-focused Cohort: 99.13% - Kenya, 0.87% 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Overall Graduation Rate: 27%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Clean dataset, zero missing values in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96D463-F7CA-4975-4829-2FE039584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928688"/>
            <a:ext cx="3505689" cy="454405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407615-DC83-E23B-32C5-2B8ECD6B74CF}"/>
              </a:ext>
            </a:extLst>
          </p:cNvPr>
          <p:cNvCxnSpPr>
            <a:stCxn id="3" idx="3"/>
          </p:cNvCxnSpPr>
          <p:nvPr/>
        </p:nvCxnSpPr>
        <p:spPr>
          <a:xfrm>
            <a:off x="6828502" y="3429000"/>
            <a:ext cx="64008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22C3A2-3767-3727-2101-79ECC8196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 descr="A graph with blue and white bars&#10;&#10;AI-generated content may be incorrect.">
            <a:extLst>
              <a:ext uri="{FF2B5EF4-FFF2-40B4-BE49-F238E27FC236}">
                <a16:creationId xmlns:a16="http://schemas.microsoft.com/office/drawing/2014/main" id="{E344BCEC-5910-EF34-208A-5D35A7B27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0A0F98-F37B-5C9C-7BA3-1D6A27B745C4}"/>
              </a:ext>
            </a:extLst>
          </p:cNvPr>
          <p:cNvSpPr txBox="1"/>
          <p:nvPr/>
        </p:nvSpPr>
        <p:spPr>
          <a:xfrm>
            <a:off x="8947152" y="1990657"/>
            <a:ext cx="372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62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E9C6DD-626B-342E-E2CD-3315F1C7222C}"/>
              </a:ext>
            </a:extLst>
          </p:cNvPr>
          <p:cNvSpPr txBox="1"/>
          <p:nvPr/>
        </p:nvSpPr>
        <p:spPr>
          <a:xfrm>
            <a:off x="8100442" y="4338211"/>
            <a:ext cx="372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53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3B14BE-4428-AA07-6F64-F8D5A8B00295}"/>
              </a:ext>
            </a:extLst>
          </p:cNvPr>
          <p:cNvSpPr txBox="1"/>
          <p:nvPr/>
        </p:nvSpPr>
        <p:spPr>
          <a:xfrm>
            <a:off x="246743" y="101600"/>
            <a:ext cx="207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EDA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9943577-0A57-E65E-647E-3E9F9A973137}"/>
              </a:ext>
            </a:extLst>
          </p:cNvPr>
          <p:cNvCxnSpPr/>
          <p:nvPr/>
        </p:nvCxnSpPr>
        <p:spPr>
          <a:xfrm>
            <a:off x="885371" y="261257"/>
            <a:ext cx="87085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765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319DEF-268A-C560-038C-0A6A963F7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Picture 3" descr="A graph of a number of red rectangular objects&#10;&#10;AI-generated content may be incorrect.">
            <a:extLst>
              <a:ext uri="{FF2B5EF4-FFF2-40B4-BE49-F238E27FC236}">
                <a16:creationId xmlns:a16="http://schemas.microsoft.com/office/drawing/2014/main" id="{2182D2C3-9410-5E6A-9442-5F2B6D383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8BD9C4-57DA-E252-1630-8731B3FD269B}"/>
              </a:ext>
            </a:extLst>
          </p:cNvPr>
          <p:cNvSpPr txBox="1"/>
          <p:nvPr/>
        </p:nvSpPr>
        <p:spPr>
          <a:xfrm>
            <a:off x="3906611" y="975180"/>
            <a:ext cx="372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C1A08E-978D-4C12-B298-BD264B7F3D85}"/>
              </a:ext>
            </a:extLst>
          </p:cNvPr>
          <p:cNvSpPr txBox="1"/>
          <p:nvPr/>
        </p:nvSpPr>
        <p:spPr>
          <a:xfrm>
            <a:off x="6096000" y="2912806"/>
            <a:ext cx="372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9138DE-CE7F-531B-54C2-C58E2A8236CB}"/>
              </a:ext>
            </a:extLst>
          </p:cNvPr>
          <p:cNvSpPr txBox="1"/>
          <p:nvPr/>
        </p:nvSpPr>
        <p:spPr>
          <a:xfrm>
            <a:off x="8348751" y="4204102"/>
            <a:ext cx="372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A5B7AC-B7F1-282E-5645-C3C160CF3B6C}"/>
              </a:ext>
            </a:extLst>
          </p:cNvPr>
          <p:cNvSpPr txBox="1"/>
          <p:nvPr/>
        </p:nvSpPr>
        <p:spPr>
          <a:xfrm>
            <a:off x="246743" y="101600"/>
            <a:ext cx="207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EDA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4E995C-B92A-E38A-E256-DFE61C25992E}"/>
              </a:ext>
            </a:extLst>
          </p:cNvPr>
          <p:cNvCxnSpPr/>
          <p:nvPr/>
        </p:nvCxnSpPr>
        <p:spPr>
          <a:xfrm>
            <a:off x="885371" y="261257"/>
            <a:ext cx="87085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64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74D9A0-B1CC-CA81-F8AB-B0AE130AF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D7AA65-DF01-241F-AF33-983308A79C0E}"/>
              </a:ext>
            </a:extLst>
          </p:cNvPr>
          <p:cNvSpPr txBox="1"/>
          <p:nvPr/>
        </p:nvSpPr>
        <p:spPr>
          <a:xfrm>
            <a:off x="3480618" y="932160"/>
            <a:ext cx="52307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Majority of participants are young adults (18-34 years)</a:t>
            </a:r>
          </a:p>
        </p:txBody>
      </p:sp>
      <p:pic>
        <p:nvPicPr>
          <p:cNvPr id="5" name="Picture 4" descr="A graph of age distribution&#10;&#10;AI-generated content may be incorrect.">
            <a:extLst>
              <a:ext uri="{FF2B5EF4-FFF2-40B4-BE49-F238E27FC236}">
                <a16:creationId xmlns:a16="http://schemas.microsoft.com/office/drawing/2014/main" id="{BE1558A1-3E69-DECA-8EB6-A8D55B308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2" y="1270714"/>
            <a:ext cx="7315215" cy="54864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5862BE-A61B-D871-D9DA-9248D1564146}"/>
              </a:ext>
            </a:extLst>
          </p:cNvPr>
          <p:cNvSpPr txBox="1"/>
          <p:nvPr/>
        </p:nvSpPr>
        <p:spPr>
          <a:xfrm>
            <a:off x="246743" y="101600"/>
            <a:ext cx="207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EDA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D8BF7E-1CD1-030B-C704-F55850F1378C}"/>
              </a:ext>
            </a:extLst>
          </p:cNvPr>
          <p:cNvCxnSpPr/>
          <p:nvPr/>
        </p:nvCxnSpPr>
        <p:spPr>
          <a:xfrm>
            <a:off x="885371" y="261257"/>
            <a:ext cx="87085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688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7BB7C-2C24-B0E3-CDF8-39BD7A28F6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D057C5-7669-FF4C-7449-BD1EB6BF83DE}"/>
              </a:ext>
            </a:extLst>
          </p:cNvPr>
          <p:cNvSpPr txBox="1"/>
          <p:nvPr/>
        </p:nvSpPr>
        <p:spPr>
          <a:xfrm>
            <a:off x="2900515" y="759411"/>
            <a:ext cx="63909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Majority of participants have less than six months of experience in data</a:t>
            </a:r>
          </a:p>
        </p:txBody>
      </p:sp>
      <p:pic>
        <p:nvPicPr>
          <p:cNvPr id="13" name="Picture 12" descr="A graph of a number of orange rectangular objects&#10;&#10;AI-generated content may be incorrect.">
            <a:extLst>
              <a:ext uri="{FF2B5EF4-FFF2-40B4-BE49-F238E27FC236}">
                <a16:creationId xmlns:a16="http://schemas.microsoft.com/office/drawing/2014/main" id="{A7901AAB-3D40-1FC3-A49A-E5C8D1042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1" y="1135302"/>
            <a:ext cx="9144018" cy="54864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13C2EB-4901-47CD-31D1-ECDBED58D598}"/>
              </a:ext>
            </a:extLst>
          </p:cNvPr>
          <p:cNvSpPr txBox="1"/>
          <p:nvPr/>
        </p:nvSpPr>
        <p:spPr>
          <a:xfrm>
            <a:off x="246743" y="101600"/>
            <a:ext cx="207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EDA 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6B87796-70F1-258C-C455-C3F47E45D46E}"/>
              </a:ext>
            </a:extLst>
          </p:cNvPr>
          <p:cNvCxnSpPr/>
          <p:nvPr/>
        </p:nvCxnSpPr>
        <p:spPr>
          <a:xfrm>
            <a:off x="885371" y="261257"/>
            <a:ext cx="87085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245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88482C-35E6-E23A-1D90-217E39530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" name="Picture 3" descr="A graph with blue rectangles&#10;&#10;AI-generated content may be incorrect.">
            <a:extLst>
              <a:ext uri="{FF2B5EF4-FFF2-40B4-BE49-F238E27FC236}">
                <a16:creationId xmlns:a16="http://schemas.microsoft.com/office/drawing/2014/main" id="{3AD772E0-DA89-0109-0395-15AC6C0B9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885" y="701702"/>
            <a:ext cx="7852229" cy="57728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AC4BA5-387F-5174-C6C9-FDBB0A5994F7}"/>
              </a:ext>
            </a:extLst>
          </p:cNvPr>
          <p:cNvSpPr txBox="1"/>
          <p:nvPr/>
        </p:nvSpPr>
        <p:spPr>
          <a:xfrm>
            <a:off x="9206641" y="2132222"/>
            <a:ext cx="389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C82A19-BB3F-6B72-70F5-6E6A7EA04511}"/>
              </a:ext>
            </a:extLst>
          </p:cNvPr>
          <p:cNvSpPr txBox="1"/>
          <p:nvPr/>
        </p:nvSpPr>
        <p:spPr>
          <a:xfrm>
            <a:off x="6749716" y="4553092"/>
            <a:ext cx="486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E4BBF8-F628-75C6-6132-FE83984D32AC}"/>
              </a:ext>
            </a:extLst>
          </p:cNvPr>
          <p:cNvSpPr txBox="1"/>
          <p:nvPr/>
        </p:nvSpPr>
        <p:spPr>
          <a:xfrm>
            <a:off x="246743" y="101600"/>
            <a:ext cx="207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EDA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42ED0FC-B94A-721F-9EDF-2C5509F21ADA}"/>
              </a:ext>
            </a:extLst>
          </p:cNvPr>
          <p:cNvCxnSpPr/>
          <p:nvPr/>
        </p:nvCxnSpPr>
        <p:spPr>
          <a:xfrm>
            <a:off x="885371" y="261257"/>
            <a:ext cx="87085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1957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166A32-315D-45DD-1CD3-D1C82E03A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Picture 3" descr="A graph with pink lines&#10;&#10;AI-generated content may be incorrect.">
            <a:extLst>
              <a:ext uri="{FF2B5EF4-FFF2-40B4-BE49-F238E27FC236}">
                <a16:creationId xmlns:a16="http://schemas.microsoft.com/office/drawing/2014/main" id="{02FB60C9-1CAF-9AF5-2F4E-574F61744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AC6371-C622-64D9-8388-9B99F101CF3C}"/>
              </a:ext>
            </a:extLst>
          </p:cNvPr>
          <p:cNvSpPr txBox="1"/>
          <p:nvPr/>
        </p:nvSpPr>
        <p:spPr>
          <a:xfrm>
            <a:off x="8915400" y="1978334"/>
            <a:ext cx="486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0CA5A8-52B5-0A86-4DFF-BE42EBDE7091}"/>
              </a:ext>
            </a:extLst>
          </p:cNvPr>
          <p:cNvSpPr txBox="1"/>
          <p:nvPr/>
        </p:nvSpPr>
        <p:spPr>
          <a:xfrm>
            <a:off x="3497179" y="4332513"/>
            <a:ext cx="486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565034-A667-0995-FB90-B437C95D2198}"/>
              </a:ext>
            </a:extLst>
          </p:cNvPr>
          <p:cNvSpPr txBox="1"/>
          <p:nvPr/>
        </p:nvSpPr>
        <p:spPr>
          <a:xfrm>
            <a:off x="246743" y="101600"/>
            <a:ext cx="207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EDA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A94108-FC7A-9A41-3170-6CC062B4CA07}"/>
              </a:ext>
            </a:extLst>
          </p:cNvPr>
          <p:cNvCxnSpPr/>
          <p:nvPr/>
        </p:nvCxnSpPr>
        <p:spPr>
          <a:xfrm>
            <a:off x="885371" y="261257"/>
            <a:ext cx="87085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75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2203BA-187F-3BBF-3192-CA96471AD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4" name="Picture 3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C94C191D-2944-D11F-7A03-322042CBE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730902-3402-2709-A0A5-A614BA287DB0}"/>
              </a:ext>
            </a:extLst>
          </p:cNvPr>
          <p:cNvSpPr txBox="1"/>
          <p:nvPr/>
        </p:nvSpPr>
        <p:spPr>
          <a:xfrm>
            <a:off x="246743" y="101600"/>
            <a:ext cx="207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EDA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81A130F-AEA2-1DDF-9A6D-2154BDF51801}"/>
              </a:ext>
            </a:extLst>
          </p:cNvPr>
          <p:cNvCxnSpPr/>
          <p:nvPr/>
        </p:nvCxnSpPr>
        <p:spPr>
          <a:xfrm>
            <a:off x="885371" y="261257"/>
            <a:ext cx="87085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208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14CABE-F5DD-309A-5A43-A94DE80D7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4" name="Picture 3" descr="A graph of a number of yellow bars&#10;&#10;AI-generated content may be incorrect.">
            <a:extLst>
              <a:ext uri="{FF2B5EF4-FFF2-40B4-BE49-F238E27FC236}">
                <a16:creationId xmlns:a16="http://schemas.microsoft.com/office/drawing/2014/main" id="{2EEC1782-FC06-F9E3-D379-2E04D6F68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044A7C-0BA3-C8B2-D753-435403A4556D}"/>
              </a:ext>
            </a:extLst>
          </p:cNvPr>
          <p:cNvSpPr txBox="1"/>
          <p:nvPr/>
        </p:nvSpPr>
        <p:spPr>
          <a:xfrm>
            <a:off x="246743" y="101600"/>
            <a:ext cx="207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EDA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90EC5C1-33BE-2BEE-2F66-591D4F3CDFFF}"/>
              </a:ext>
            </a:extLst>
          </p:cNvPr>
          <p:cNvCxnSpPr/>
          <p:nvPr/>
        </p:nvCxnSpPr>
        <p:spPr>
          <a:xfrm>
            <a:off x="885371" y="261257"/>
            <a:ext cx="87085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BF31A0-DA4F-3B14-602F-1144CD098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35AAF01A-44FD-A550-8918-E1AE07E72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1" y="685794"/>
            <a:ext cx="9144018" cy="54864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7ABF1A-3231-7287-9137-E48F5B2E76EE}"/>
              </a:ext>
            </a:extLst>
          </p:cNvPr>
          <p:cNvSpPr txBox="1"/>
          <p:nvPr/>
        </p:nvSpPr>
        <p:spPr>
          <a:xfrm>
            <a:off x="246743" y="101600"/>
            <a:ext cx="207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EDA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131A404-F4C5-1B94-6158-BB4FEE6219EA}"/>
              </a:ext>
            </a:extLst>
          </p:cNvPr>
          <p:cNvCxnSpPr/>
          <p:nvPr/>
        </p:nvCxnSpPr>
        <p:spPr>
          <a:xfrm>
            <a:off x="885371" y="261257"/>
            <a:ext cx="87085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95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CC9675-E624-9D04-A1A5-28C1463C0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01E37C64-9954-177C-6C14-9B99B365B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171" y="457199"/>
            <a:ext cx="8033658" cy="60911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C4DF36-5FA9-91A0-965B-15604FA431A0}"/>
              </a:ext>
            </a:extLst>
          </p:cNvPr>
          <p:cNvSpPr txBox="1"/>
          <p:nvPr/>
        </p:nvSpPr>
        <p:spPr>
          <a:xfrm>
            <a:off x="4022557" y="1491374"/>
            <a:ext cx="10138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32.08%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D1BA85-2043-1E22-5C18-1DF0317F7856}"/>
              </a:ext>
            </a:extLst>
          </p:cNvPr>
          <p:cNvSpPr txBox="1"/>
          <p:nvPr/>
        </p:nvSpPr>
        <p:spPr>
          <a:xfrm>
            <a:off x="7736115" y="2692463"/>
            <a:ext cx="907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22.58%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4D150A-CC1A-CF70-C143-4842BDBCECFE}"/>
              </a:ext>
            </a:extLst>
          </p:cNvPr>
          <p:cNvSpPr txBox="1"/>
          <p:nvPr/>
        </p:nvSpPr>
        <p:spPr>
          <a:xfrm>
            <a:off x="246743" y="101600"/>
            <a:ext cx="207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EDA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36E7CB4-0C34-20AB-9EB1-CBD4351313F9}"/>
              </a:ext>
            </a:extLst>
          </p:cNvPr>
          <p:cNvCxnSpPr/>
          <p:nvPr/>
        </p:nvCxnSpPr>
        <p:spPr>
          <a:xfrm>
            <a:off x="885371" y="261257"/>
            <a:ext cx="87085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314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55A5D-065F-3FCC-91DF-C10E21A04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3" y="436551"/>
            <a:ext cx="10671048" cy="1362057"/>
          </a:xfrm>
          <a:noFill/>
        </p:spPr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E2012-340A-719E-EA3C-E29B237CC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D47F7-6FE5-7753-49C7-CC8CCC9A9DA2}"/>
              </a:ext>
            </a:extLst>
          </p:cNvPr>
          <p:cNvSpPr txBox="1"/>
          <p:nvPr/>
        </p:nvSpPr>
        <p:spPr>
          <a:xfrm>
            <a:off x="116115" y="1816578"/>
            <a:ext cx="5363734" cy="193899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1: Aptitude Score Dominance</a:t>
            </a:r>
            <a:endParaRPr lang="en-US" sz="20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Strongest Predictor (Imp. = 0.378)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Score &gt;70: 45.50% graduation rate (n=47)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Score 60 – 70: 34.50% graduation rate (n=58)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Score &lt;60: 20% graduation rate (n=10)</a:t>
            </a:r>
          </a:p>
          <a:p>
            <a:pPr algn="ctr"/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9C43F5-285C-9FA0-109E-D5D13D87EBC2}"/>
              </a:ext>
            </a:extLst>
          </p:cNvPr>
          <p:cNvSpPr txBox="1"/>
          <p:nvPr/>
        </p:nvSpPr>
        <p:spPr>
          <a:xfrm>
            <a:off x="2525956" y="3976273"/>
            <a:ext cx="5907785" cy="193899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3: Experience Advantage</a:t>
            </a:r>
            <a:endParaRPr lang="en-US" sz="20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Importance = 0.119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4 - 6 years: 75% graduation rate (n=4)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Less than 6 months: 27.8% graduation rate (n=72)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6 months – 1 year: 23.3% graduation rate (n=30)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1 – 3 years: 11.1% graduation rate (n=9)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4E9758-ADF5-F0E7-0B24-512D3D5F3567}"/>
              </a:ext>
            </a:extLst>
          </p:cNvPr>
          <p:cNvSpPr txBox="1"/>
          <p:nvPr/>
        </p:nvSpPr>
        <p:spPr>
          <a:xfrm>
            <a:off x="5747890" y="1809326"/>
            <a:ext cx="6327995" cy="193899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2: Commitment Impact</a:t>
            </a:r>
            <a:endParaRPr lang="en-US" sz="20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Importance = 0.143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More than 14 hours/week: 34.3% graduation rate (n=35)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Less than 6 hours/week: 31.2% graduation rate (n=16)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/>
              <a:t>7 – 14 hours/week: 21.9% graduation rate (n=64)</a:t>
            </a:r>
          </a:p>
        </p:txBody>
      </p:sp>
    </p:spTree>
    <p:extLst>
      <p:ext uri="{BB962C8B-B14F-4D97-AF65-F5344CB8AC3E}">
        <p14:creationId xmlns:p14="http://schemas.microsoft.com/office/powerpoint/2010/main" val="3572725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20" y="685793"/>
            <a:ext cx="4388042" cy="1222411"/>
          </a:xfrm>
        </p:spPr>
        <p:txBody>
          <a:bodyPr/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Feature importance analysis - rf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1E3B2B-FCC7-64C1-50CC-E3F4CE0E1FE5}"/>
              </a:ext>
            </a:extLst>
          </p:cNvPr>
          <p:cNvSpPr txBox="1"/>
          <p:nvPr/>
        </p:nvSpPr>
        <p:spPr>
          <a:xfrm>
            <a:off x="480606" y="2270415"/>
            <a:ext cx="4267858" cy="313932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Aptitude Score is #1 predictor (Importance = 0.378)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Weekly hours commitment matters significantly (Importance = 0.143)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Experience Level is the third most significant predictor (Importance = 0.119)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14" name="Picture 13" descr="A graph with blue bars&#10;&#10;AI-generated content may be incorrect.">
            <a:extLst>
              <a:ext uri="{FF2B5EF4-FFF2-40B4-BE49-F238E27FC236}">
                <a16:creationId xmlns:a16="http://schemas.microsoft.com/office/drawing/2014/main" id="{FBA2B7F3-17D5-D6D8-808D-91CF4CD79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464" y="481263"/>
            <a:ext cx="7283116" cy="587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graduation rate&#10;&#10;AI-generated content may be incorrect.">
            <a:extLst>
              <a:ext uri="{FF2B5EF4-FFF2-40B4-BE49-F238E27FC236}">
                <a16:creationId xmlns:a16="http://schemas.microsoft.com/office/drawing/2014/main" id="{D2762FF8-930D-455E-CDD3-04627D318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58" y="202290"/>
            <a:ext cx="10653484" cy="645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79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ACE6EF-3617-70C7-B2F7-3242AB3A9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4" name="Picture 3" descr="A graph of a graduation rate&#10;&#10;AI-generated content may be incorrect.">
            <a:extLst>
              <a:ext uri="{FF2B5EF4-FFF2-40B4-BE49-F238E27FC236}">
                <a16:creationId xmlns:a16="http://schemas.microsoft.com/office/drawing/2014/main" id="{275A7167-ACC1-884C-7817-3C7BF943B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141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7145B2-F4E0-66FB-23EC-77320007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4" name="Picture 3" descr="A graph of a graduation rate&#10;&#10;AI-generated content may be incorrect.">
            <a:extLst>
              <a:ext uri="{FF2B5EF4-FFF2-40B4-BE49-F238E27FC236}">
                <a16:creationId xmlns:a16="http://schemas.microsoft.com/office/drawing/2014/main" id="{241AA771-4994-4348-591D-66E83B070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1" y="685794"/>
            <a:ext cx="9144018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56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84C63-A14D-1B85-7012-CB154EA4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PERFORMANCE COMPARISON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9D8BD3-6A60-493A-D4CF-47212AF83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86EF3F1-6619-23FB-61FE-93B7BA1525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14399" y="2127759"/>
            <a:ext cx="5014022" cy="3895606"/>
          </a:xfrm>
          <a:prstGeom prst="rect">
            <a:avLst/>
          </a:prstGeom>
        </p:spPr>
      </p:pic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7C6D03-7EC0-CB75-78EA-18CD109FDCA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12004" y="2127759"/>
            <a:ext cx="5014023" cy="3895606"/>
          </a:xfrm>
        </p:spPr>
      </p:pic>
    </p:spTree>
    <p:extLst>
      <p:ext uri="{BB962C8B-B14F-4D97-AF65-F5344CB8AC3E}">
        <p14:creationId xmlns:p14="http://schemas.microsoft.com/office/powerpoint/2010/main" val="2416958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42220-3E27-D77E-B8C9-B76E8F875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CONFUSION MATRIX COMPARISON</a:t>
            </a:r>
            <a:endParaRPr lang="en-US"/>
          </a:p>
        </p:txBody>
      </p:sp>
      <p:pic>
        <p:nvPicPr>
          <p:cNvPr id="7" name="Content Placeholder 6" descr="A close-up of a graph&#10;&#10;AI-generated content may be incorrect.">
            <a:extLst>
              <a:ext uri="{FF2B5EF4-FFF2-40B4-BE49-F238E27FC236}">
                <a16:creationId xmlns:a16="http://schemas.microsoft.com/office/drawing/2014/main" id="{5FBE08B6-20E9-DC61-F9FD-9FDDB7E914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460565" y="2389088"/>
            <a:ext cx="7965460" cy="3325579"/>
          </a:xfr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B334B0-6AF3-77B0-3555-2AE197875F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6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DBECD-BB58-22AD-C1AA-2752FB5EE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1099283"/>
            <a:ext cx="10537370" cy="717761"/>
          </a:xfrm>
        </p:spPr>
        <p:txBody>
          <a:bodyPr/>
          <a:lstStyle/>
          <a:p>
            <a:pPr algn="ctr"/>
            <a:r>
              <a:rPr lang="en-US" dirty="0"/>
              <a:t>Strategic 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DAA72B-A331-29E8-1FEC-75DDAF9B10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029" y="2175926"/>
            <a:ext cx="5715000" cy="1879271"/>
          </a:xfrm>
        </p:spPr>
        <p:txBody>
          <a:bodyPr>
            <a:normAutofit/>
          </a:bodyPr>
          <a:lstStyle/>
          <a:p>
            <a:r>
              <a:rPr lang="en-US" b="1" dirty="0"/>
              <a:t>1. Implement an Admission Threshold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Prioritize candidates with higher aptitude test scores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Minimum ATS: 65%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Priority placement for 75%+ ATS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0AB4965-3E82-0D7E-738D-B2438F902A95}"/>
              </a:ext>
            </a:extLst>
          </p:cNvPr>
          <p:cNvSpPr txBox="1">
            <a:spLocks/>
          </p:cNvSpPr>
          <p:nvPr/>
        </p:nvSpPr>
        <p:spPr>
          <a:xfrm>
            <a:off x="6252029" y="2175925"/>
            <a:ext cx="5715000" cy="1879271"/>
          </a:xfrm>
          <a:prstGeom prst="rect">
            <a:avLst/>
          </a:prstGeom>
        </p:spPr>
        <p:txBody>
          <a:bodyPr vert="horz" lIns="91440" tIns="0" rIns="91440" bIns="0" rtlCol="0" anchor="t" anchorCtr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76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2. Differentiated Support Structure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Enhanced mentorship for beginners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Emphasize the Peer mentorship system implementation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Weekly check-ins for at-risk participants based on DataCamp activity</a:t>
            </a:r>
          </a:p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9F70B30-7E6B-0905-23C7-968859A45A7D}"/>
              </a:ext>
            </a:extLst>
          </p:cNvPr>
          <p:cNvSpPr txBox="1">
            <a:spLocks/>
          </p:cNvSpPr>
          <p:nvPr/>
        </p:nvSpPr>
        <p:spPr>
          <a:xfrm>
            <a:off x="3238500" y="4304698"/>
            <a:ext cx="5715000" cy="1879271"/>
          </a:xfrm>
          <a:prstGeom prst="rect">
            <a:avLst/>
          </a:prstGeom>
        </p:spPr>
        <p:txBody>
          <a:bodyPr vert="horz" lIns="91440" tIns="0" rIns="9144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76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3. Recruitment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Emphasize time commitment requirements clearly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Target participants with some prior experience in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441848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874979"/>
            <a:ext cx="5715000" cy="92333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813606"/>
            <a:ext cx="8241889" cy="2234642"/>
          </a:xfrm>
        </p:spPr>
        <p:txBody>
          <a:bodyPr/>
          <a:lstStyle/>
          <a:p>
            <a:r>
              <a:rPr lang="en-US" dirty="0"/>
              <a:t>Tevin Billy Ochieng</a:t>
            </a:r>
          </a:p>
          <a:p>
            <a:r>
              <a:rPr lang="en-US" dirty="0"/>
              <a:t>+1 (605)-659-1484</a:t>
            </a:r>
          </a:p>
          <a:p>
            <a:r>
              <a:rPr lang="en-US" dirty="0"/>
              <a:t>MSc. Business Analytics, University of South Dakota</a:t>
            </a:r>
          </a:p>
          <a:p>
            <a:r>
              <a:rPr lang="en-US" dirty="0"/>
              <a:t>vindevon11@gmail.com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2ED489-D429-4475-668A-290621327F45}"/>
              </a:ext>
            </a:extLst>
          </p:cNvPr>
          <p:cNvSpPr txBox="1"/>
          <p:nvPr/>
        </p:nvSpPr>
        <p:spPr>
          <a:xfrm>
            <a:off x="3035710" y="1601950"/>
            <a:ext cx="6120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accent6"/>
                </a:solidFill>
                <a:latin typeface="+mj-lt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{87393E5B-63A5-4C5A-AB4F-4220820DB491}TF8a9b5915-b8c7-461e-8cdd-693d48b5e32371f7b7e2_win32-4bf0b9a2ea37</Template>
  <TotalTime>479</TotalTime>
  <Words>945</Words>
  <Application>Microsoft Office PowerPoint</Application>
  <PresentationFormat>Widescreen</PresentationFormat>
  <Paragraphs>174</Paragraphs>
  <Slides>26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Arial Black</vt:lpstr>
      <vt:lpstr>Calibri</vt:lpstr>
      <vt:lpstr>Georgia</vt:lpstr>
      <vt:lpstr>Sabon Next LT</vt:lpstr>
      <vt:lpstr>Wingdings</vt:lpstr>
      <vt:lpstr>Custom</vt:lpstr>
      <vt:lpstr>Predictive Analysis of Everything Data’s GRADUATION RATEs  Tevin b. ochieng  DATA SCIENCE September 17th, 2025 06:25pm eat (10:25AM CT)  EVERYTHING DATA AFRICA     </vt:lpstr>
      <vt:lpstr>Problem statement</vt:lpstr>
      <vt:lpstr>RESEARCH QUESTIONS</vt:lpstr>
      <vt:lpstr>Analysis workflow</vt:lpstr>
      <vt:lpstr>DATA ENCODING</vt:lpstr>
      <vt:lpstr>MODEL SELECTION JUSTIFICATION</vt:lpstr>
      <vt:lpstr>Dataset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insights</vt:lpstr>
      <vt:lpstr>Feature importance analysis - rf</vt:lpstr>
      <vt:lpstr>PowerPoint Presentation</vt:lpstr>
      <vt:lpstr>PowerPoint Presentation</vt:lpstr>
      <vt:lpstr>PowerPoint Presentation</vt:lpstr>
      <vt:lpstr>MODEL PERFORMANCE COMPARISON</vt:lpstr>
      <vt:lpstr>CONFUSION MATRIX COMPARISON</vt:lpstr>
      <vt:lpstr>Strategic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Ochieng, Tevin</dc:creator>
  <cp:lastModifiedBy>Ochieng, Tevin</cp:lastModifiedBy>
  <cp:revision>49</cp:revision>
  <dcterms:created xsi:type="dcterms:W3CDTF">2025-09-14T20:31:18Z</dcterms:created>
  <dcterms:modified xsi:type="dcterms:W3CDTF">2025-09-17T15:52:35Z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8cb311d3-aea9-4488-bc88-99739ecc7603_Enabled">
    <vt:lpwstr>true</vt:lpwstr>
  </property>
  <property fmtid="{D5CDD505-2E9C-101B-9397-08002B2CF9AE}" pid="4" name="MSIP_Label_8cb311d3-aea9-4488-bc88-99739ecc7603_SetDate">
    <vt:lpwstr>2025-09-14T20:36:14Z</vt:lpwstr>
  </property>
  <property fmtid="{D5CDD505-2E9C-101B-9397-08002B2CF9AE}" pid="5" name="MSIP_Label_8cb311d3-aea9-4488-bc88-99739ecc7603_Method">
    <vt:lpwstr>Standard</vt:lpwstr>
  </property>
  <property fmtid="{D5CDD505-2E9C-101B-9397-08002B2CF9AE}" pid="6" name="MSIP_Label_8cb311d3-aea9-4488-bc88-99739ecc7603_Name">
    <vt:lpwstr>Internal - University</vt:lpwstr>
  </property>
  <property fmtid="{D5CDD505-2E9C-101B-9397-08002B2CF9AE}" pid="7" name="MSIP_Label_8cb311d3-aea9-4488-bc88-99739ecc7603_SiteId">
    <vt:lpwstr>9c36a7d0-bf7b-4991-9b78-be91a52f0226</vt:lpwstr>
  </property>
  <property fmtid="{D5CDD505-2E9C-101B-9397-08002B2CF9AE}" pid="8" name="MSIP_Label_8cb311d3-aea9-4488-bc88-99739ecc7603_ActionId">
    <vt:lpwstr>d1695cc8-4103-45e1-b103-81ef759d9658</vt:lpwstr>
  </property>
  <property fmtid="{D5CDD505-2E9C-101B-9397-08002B2CF9AE}" pid="9" name="MSIP_Label_8cb311d3-aea9-4488-bc88-99739ecc7603_ContentBits">
    <vt:lpwstr>0</vt:lpwstr>
  </property>
  <property fmtid="{D5CDD505-2E9C-101B-9397-08002B2CF9AE}" pid="10" name="MSIP_Label_8cb311d3-aea9-4488-bc88-99739ecc7603_Tag">
    <vt:lpwstr>10, 3, 0, 1</vt:lpwstr>
  </property>
</Properties>
</file>